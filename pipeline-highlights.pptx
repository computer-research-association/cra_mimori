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spc="100">
                <a:solidFill>
                  <a:srgbClr val="0E8F6E"/>
                </a:solidFill>
                <a:latin typeface="Consolas"/>
              </a:rPr>
              <a:t>PROJECT RESULTS · TEAM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6211C"/>
                </a:solidFill>
                <a:latin typeface="Malgun Gothic"/>
              </a:rPr>
              <a:t>파이프라인에서 건진 3가지 기술 하이라이트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625A"/>
                </a:solidFill>
                <a:latin typeface="Malgun Gothic"/>
              </a:rPr>
              <a:t>크롤링 → 전처리 → 임베딩 → RAG로 이어지는 밈/트렌드 파이프라인을 만들면서 부딪힌 문제, 데이터로 검증한 과정, 그리고 거기서 뽑아낸 일반화 가능한 교훈 세 가지.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8138160" cy="18288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845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8F6E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6301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6211C"/>
                </a:solidFill>
                <a:latin typeface="Malgun Gothic"/>
              </a:rPr>
              <a:t>하류 필터가 상류 판정의 증거를 지웠다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97763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2625A"/>
                </a:solidFill>
                <a:latin typeface="Malgun Gothic"/>
              </a:rPr>
              <a:t>relevance judge 오판 버그 · preprocessing/pipeline.py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34840"/>
            <a:ext cx="8138160" cy="18288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628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8F6E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445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6211C"/>
                </a:solidFill>
                <a:latin typeface="Malgun Gothic"/>
              </a:rPr>
              <a:t>감이 아니라 라벨 50건으로 검증했다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2625A"/>
                </a:solidFill>
                <a:latin typeface="Malgun Gothic"/>
              </a:rPr>
              <a:t>정밀도/재현율 실측 · 오염원 가설 정정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49240"/>
            <a:ext cx="8138160" cy="18288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772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8F6E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4589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6211C"/>
                </a:solidFill>
                <a:latin typeface="Malgun Gothic"/>
              </a:rPr>
              <a:t>짧은 청크가 검색 품질을 갉아먹고 있었다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806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2625A"/>
                </a:solidFill>
                <a:latin typeface="Malgun Gothic"/>
              </a:rPr>
              <a:t>RAG 검색 노이즈 진단 · feature/lang_hi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63640"/>
            <a:ext cx="8138160" cy="18288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60">
                <a:solidFill>
                  <a:srgbClr val="0E8F6E"/>
                </a:solidFill>
                <a:latin typeface="Consolas"/>
              </a:rPr>
              <a:t>01</a:t>
            </a:r>
            <a:r>
              <a:rPr sz="1050" b="0" spc="40">
                <a:solidFill>
                  <a:srgbClr val="52625A"/>
                </a:solidFill>
                <a:latin typeface="Consolas"/>
              </a:rPr>
              <a:t>   STORY · preprocessing/pipeline.py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청킹이 지운 22자가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관련성 판정을 뒤집었다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5212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6211C"/>
                </a:solidFill>
                <a:latin typeface="Malgun Gothic"/>
              </a:rPr>
              <a:t>relevance judge를 붙였더니 dcinside 글 36건이 이유 없이 “비관련”으로 판정됐다. 원인은 judge가 clean_content가 아니라 청킹 이후 살아남은 청크만 이어붙여 판정하고 있었던 것. 청킹은 30자 미만을 노이즈로 버리는데, 어떤 글은 본문이 22자뿐이라 키워드를 포함한 채로 통째로 사라지고 무관한 댓글만 남았다.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52120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두 단계를 독립적으로 설계했다고 생각했지만 실제로는 얽혀 있었다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수정 후 오판 36건 → 2건. 판정 입력을 clean_content 기준으로 통일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일반화: 하류 필터가 상류 판정의 증거를 지우는 패턴은 늘 의심할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822960"/>
            <a:ext cx="53035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051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60">
                <a:solidFill>
                  <a:srgbClr val="52625A"/>
                </a:solidFill>
                <a:latin typeface="Consolas"/>
              </a:rPr>
              <a:t>DCINSIDE 원문 · 22자, 키워드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41732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50876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5A"/>
                </a:solidFill>
                <a:latin typeface="Consolas"/>
              </a:rPr>
              <a:t>clean_content (전문)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783080"/>
            <a:ext cx="429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6211C"/>
                </a:solidFill>
                <a:latin typeface="Consolas"/>
              </a:rPr>
              <a:t>"야호 / - dc official App"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86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2625A"/>
                </a:solidFill>
                <a:latin typeface="Consolas"/>
              </a:rPr>
              <a:t>↓  chunker (MIN_CHUNK_CHARS = 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26060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BE7E5"/>
          </a:solidFill>
          <a:ln w="9525">
            <a:solidFill>
              <a:srgbClr val="C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23B3B"/>
                </a:solidFill>
                <a:latin typeface="Malgun Gothic"/>
              </a:rPr>
              <a:t>본문 · 22자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9443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5A"/>
                </a:solidFill>
                <a:latin typeface="Malgun Gothic"/>
              </a:rPr>
              <a:t>30자 미만 →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1821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C23B3B"/>
                </a:solidFill>
                <a:latin typeface="Malgun Gothic"/>
              </a:rPr>
              <a:t>✕ 증거 소멸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6060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1F1EA"/>
          </a:solidFill>
          <a:ln w="9525">
            <a:solidFill>
              <a:srgbClr val="0E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8F6E"/>
                </a:solidFill>
                <a:latin typeface="Malgun Gothic"/>
              </a:rPr>
              <a:t>댓글 · 생존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443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5A"/>
                </a:solidFill>
                <a:latin typeface="Malgun Gothic"/>
              </a:rPr>
              <a:t>키워드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821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8F6E"/>
                </a:solidFill>
                <a:latin typeface="Malgun Gothic"/>
              </a:rPr>
              <a:t>✓ 남음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79" y="379476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388620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5A"/>
                </a:solidFill>
                <a:latin typeface="Consolas"/>
              </a:rPr>
              <a:t>Before: 살아남은 청크만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4160520"/>
            <a:ext cx="429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C23B3B"/>
                </a:solidFill>
                <a:latin typeface="Malgun Gothic"/>
              </a:rPr>
              <a:t>judge 입력 = 댓글뿐 → “비관련”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79" y="4663440"/>
            <a:ext cx="4663440" cy="777240"/>
          </a:xfrm>
          <a:prstGeom prst="roundRect">
            <a:avLst>
              <a:gd name="adj" fmla="val 8000"/>
            </a:avLst>
          </a:prstGeom>
          <a:solidFill>
            <a:srgbClr val="E7ECE6"/>
          </a:solidFill>
          <a:ln w="12700">
            <a:solidFill>
              <a:srgbClr val="0E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475488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5A"/>
                </a:solidFill>
                <a:latin typeface="Consolas"/>
              </a:rPr>
              <a:t>After: clean_content 기준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5029200"/>
            <a:ext cx="429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8F6E"/>
                </a:solidFill>
                <a:latin typeface="Malgun Gothic"/>
              </a:rPr>
              <a:t>judge 입력 = 전문 → “관련” (정답)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60">
                <a:solidFill>
                  <a:srgbClr val="0E8F6E"/>
                </a:solidFill>
                <a:latin typeface="Consolas"/>
              </a:rPr>
              <a:t>02</a:t>
            </a:r>
            <a:r>
              <a:rPr sz="1050" b="0" spc="40">
                <a:solidFill>
                  <a:srgbClr val="52625A"/>
                </a:solidFill>
                <a:latin typeface="Consolas"/>
              </a:rPr>
              <a:t>   STORY · quality_test/ · docs/quality-test-usage.md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오염의 주범은 natepann이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아니라 tavily였다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5212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6211C"/>
                </a:solidFill>
                <a:latin typeface="Malgun Gothic"/>
              </a:rPr>
              <a:t>judge를 붙이기 전엔 “natepann/dcinside가 오염의 대부분”이라 추정하고 있었다. 라벨셋 50건을 실측하니 정밀도 0.805 / 재현율 1.000, relevance_position이 late(글 후반부에만 키워드 등장)인 5건 중 4건이 실제 오염이라 이를 빼면 0.889 / 0.970까지 올랐다. fixture 1000건 규모로 다시 재보니 실제 오염 비율은 9.5%였고, 그 중 압도적 다수는 tavily였다 — 기존 가설과 정반대.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26280"/>
            <a:ext cx="52120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가설은 실측 전까지는 가설일 뿐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50건 라벨링 비용은 잘못된 가설로 미루는 비용보다 훨씬 쌌다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822960"/>
            <a:ext cx="53035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051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60">
                <a:solidFill>
                  <a:srgbClr val="52625A"/>
                </a:solidFill>
                <a:latin typeface="Consolas"/>
              </a:rPr>
              <a:t>50건 라벨셋 실측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41732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5361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40">
                <a:solidFill>
                  <a:srgbClr val="52625A"/>
                </a:solidFill>
                <a:latin typeface="Consolas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8105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6211C"/>
                </a:solidFill>
                <a:latin typeface="Consolas"/>
              </a:rPr>
              <a:t>0.805</a:t>
            </a:r>
            <a:r>
              <a:rPr sz="1500" b="0">
                <a:solidFill>
                  <a:srgbClr val="52625A"/>
                </a:solidFill>
                <a:latin typeface="Consolas"/>
              </a:rPr>
              <a:t> → </a:t>
            </a:r>
            <a:r>
              <a:rPr sz="2000" b="1">
                <a:solidFill>
                  <a:srgbClr val="0E8F6E"/>
                </a:solidFill>
                <a:latin typeface="Consolas"/>
              </a:rPr>
              <a:t>0.889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2128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Malgun Gothic"/>
              </a:rPr>
              <a:t>late 케이스 제외 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41732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39" y="15361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40">
                <a:solidFill>
                  <a:srgbClr val="52625A"/>
                </a:solidFill>
                <a:latin typeface="Consola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39" y="18105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6211C"/>
                </a:solidFill>
                <a:latin typeface="Consolas"/>
              </a:rPr>
              <a:t>1.000</a:t>
            </a:r>
            <a:r>
              <a:rPr sz="1500" b="0">
                <a:solidFill>
                  <a:srgbClr val="52625A"/>
                </a:solidFill>
                <a:latin typeface="Consolas"/>
              </a:rPr>
              <a:t> → </a:t>
            </a:r>
            <a:r>
              <a:rPr sz="2000" b="1">
                <a:solidFill>
                  <a:srgbClr val="0E8F6E"/>
                </a:solidFill>
                <a:latin typeface="Consolas"/>
              </a:rPr>
              <a:t>0.970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22128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Malgun Gothic"/>
              </a:rPr>
              <a:t>late 케이스 제외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7889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60">
                <a:solidFill>
                  <a:srgbClr val="52625A"/>
                </a:solidFill>
                <a:latin typeface="Consolas"/>
              </a:rPr>
              <a:t>오염원 비율 · 가설 VS 1000건 실측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1546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2625A"/>
                </a:solidFill>
                <a:latin typeface="Malgun Gothic"/>
              </a:rPr>
              <a:t>가설: “natepann이 대부분” (근거 낡음)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3410712"/>
            <a:ext cx="4663440" cy="292608"/>
          </a:xfrm>
          <a:prstGeom prst="roundRect">
            <a:avLst>
              <a:gd name="adj" fmla="val 15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79" y="3410712"/>
            <a:ext cx="3357676" cy="292608"/>
          </a:xfrm>
          <a:prstGeom prst="roundRect">
            <a:avLst>
              <a:gd name="adj" fmla="val 15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867912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2625A"/>
                </a:solidFill>
                <a:latin typeface="Malgun Gothic"/>
              </a:rPr>
              <a:t>실측: tavily 19.8%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79" y="4123944"/>
            <a:ext cx="4663440" cy="292608"/>
          </a:xfrm>
          <a:prstGeom prst="roundRect">
            <a:avLst>
              <a:gd name="adj" fmla="val 15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79" y="4123944"/>
            <a:ext cx="1958644" cy="292608"/>
          </a:xfrm>
          <a:prstGeom prst="roundRect">
            <a:avLst>
              <a:gd name="adj" fmla="val 15000"/>
            </a:avLst>
          </a:prstGeom>
          <a:solidFill>
            <a:srgbClr val="FBE7E5"/>
          </a:solidFill>
          <a:ln w="9525">
            <a:solidFill>
              <a:srgbClr val="C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4581144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2625A"/>
                </a:solidFill>
                <a:latin typeface="Malgun Gothic"/>
              </a:rPr>
              <a:t>실측: natepann/dcinside 상대적 소수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79" y="4837176"/>
            <a:ext cx="4663440" cy="292608"/>
          </a:xfrm>
          <a:prstGeom prst="roundRect">
            <a:avLst>
              <a:gd name="adj" fmla="val 15000"/>
            </a:avLst>
          </a:prstGeom>
          <a:solidFill>
            <a:srgbClr val="E7ECE6"/>
          </a:solidFill>
          <a:ln w="9525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79" y="4837176"/>
            <a:ext cx="746150" cy="292608"/>
          </a:xfrm>
          <a:prstGeom prst="roundRect">
            <a:avLst>
              <a:gd name="adj" fmla="val 15000"/>
            </a:avLst>
          </a:prstGeom>
          <a:solidFill>
            <a:srgbClr val="E1F1EA"/>
          </a:solidFill>
          <a:ln w="9525">
            <a:solidFill>
              <a:srgbClr val="0E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spc="60">
                <a:solidFill>
                  <a:srgbClr val="0E8F6E"/>
                </a:solidFill>
                <a:latin typeface="Consolas"/>
              </a:rPr>
              <a:t>03</a:t>
            </a:r>
            <a:r>
              <a:rPr sz="1050" b="0" spc="40">
                <a:solidFill>
                  <a:srgbClr val="52625A"/>
                </a:solidFill>
                <a:latin typeface="Consolas"/>
              </a:rPr>
              <a:t>   STORY · analysis/langchain_playground.ipynb · feature/lang_hi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“야르” 검색 결과 15개 중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6211C"/>
                </a:solidFill>
                <a:latin typeface="Malgun Gothic"/>
              </a:rPr>
              <a:t>대부분이 무의미한 한마디였다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16211C"/>
                </a:solidFill>
                <a:latin typeface="Malgun Gothic"/>
              </a:rPr>
              <a:t>“거제야호”처럼 고유한 합성어 키워드는 리터럴 매칭만으로도 오염을 잘 걸렀다. 그런데 “야르”처럼 흔한 신조어/감탄사 키워드는 전혀 다른 문제였다. dense+sparse RRF 검색 상위 15개를 직접 열어보니 대부분이 로또·주식·게임 갤러리에서 “야르”를 그냥 감탄사로 던진 10~30자짜리 한마디였다. 반대로 진짜 유의미했던 청크는 전부 100자 이상 — 청크 길이와 정보량이 눈에 띄게 상관관계를 보였다.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52120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리터럴 키워드 매칭 ≠ 주제적 관련성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0E8F6E"/>
                </a:solidFill>
                <a:latin typeface="Consolas"/>
              </a:rPr>
              <a:t>+  </a:t>
            </a:r>
            <a:r>
              <a:rPr sz="1350">
                <a:solidFill>
                  <a:srgbClr val="52625A"/>
                </a:solidFill>
                <a:latin typeface="Malgun Gothic"/>
              </a:rPr>
              <a:t>최소 길이 필터라는 값싼 기계적 해법으로 이어짐 (다음 단계)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822960"/>
            <a:ext cx="53035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3D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051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60">
                <a:solidFill>
                  <a:srgbClr val="52625A"/>
                </a:solidFill>
                <a:latin typeface="Consolas"/>
              </a:rPr>
              <a:t>검색어 “야르” · 상위 결과 표본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417320"/>
            <a:ext cx="4663440" cy="594360"/>
          </a:xfrm>
          <a:prstGeom prst="roundRect">
            <a:avLst>
              <a:gd name="adj" fmla="val 6000"/>
            </a:avLst>
          </a:prstGeom>
          <a:solidFill>
            <a:srgbClr val="FBE7E5"/>
          </a:solidFill>
          <a:ln w="9525">
            <a:solidFill>
              <a:srgbClr val="C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508760"/>
            <a:ext cx="4297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dc갤러리 · 로또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7373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6211C"/>
                </a:solidFill>
                <a:latin typeface="Malgun Gothic"/>
              </a:rPr>
              <a:t>"야르 / - dc official App"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75564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14자  </a:t>
            </a:r>
            <a:r>
              <a:rPr sz="900" b="1">
                <a:solidFill>
                  <a:srgbClr val="C23B3B"/>
                </a:solidFill>
                <a:latin typeface="Malgun Gothic"/>
              </a:rPr>
              <a:t>노이즈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2194560"/>
            <a:ext cx="4663440" cy="594360"/>
          </a:xfrm>
          <a:prstGeom prst="roundRect">
            <a:avLst>
              <a:gd name="adj" fmla="val 6000"/>
            </a:avLst>
          </a:prstGeom>
          <a:solidFill>
            <a:srgbClr val="FBE7E5"/>
          </a:solidFill>
          <a:ln w="9525">
            <a:solidFill>
              <a:srgbClr val="C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286000"/>
            <a:ext cx="4297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dc갤러리 · 주식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514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6211C"/>
                </a:solidFill>
                <a:latin typeface="Malgun Gothic"/>
              </a:rPr>
              <a:t>"야르 ㅋㅋㅋ 실화냐"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53288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11자  </a:t>
            </a:r>
            <a:r>
              <a:rPr sz="900" b="1">
                <a:solidFill>
                  <a:srgbClr val="C23B3B"/>
                </a:solidFill>
                <a:latin typeface="Malgun Gothic"/>
              </a:rPr>
              <a:t>노이즈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9" y="2971800"/>
            <a:ext cx="4663440" cy="1051560"/>
          </a:xfrm>
          <a:prstGeom prst="roundRect">
            <a:avLst>
              <a:gd name="adj" fmla="val 6000"/>
            </a:avLst>
          </a:prstGeom>
          <a:solidFill>
            <a:srgbClr val="E1F1EA"/>
          </a:solidFill>
          <a:ln w="9525">
            <a:solidFill>
              <a:srgbClr val="0E8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3063240"/>
            <a:ext cx="4297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커뮤니티 게시글 본문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291840"/>
            <a:ext cx="393192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6211C"/>
                </a:solidFill>
                <a:latin typeface="Malgun Gothic"/>
              </a:rPr>
              <a:t>“야르는 원래 ○○ 스트리머 방송에서 나온 반응 표현인데, 최근엔 게임 커뮤니티 전반에서 놀람이나 어이없음을 나타내는 말로 쓰이고 있음...”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76732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2625A"/>
                </a:solidFill>
                <a:latin typeface="Consolas"/>
              </a:rPr>
              <a:t>143자  </a:t>
            </a:r>
            <a:r>
              <a:rPr sz="900" b="1">
                <a:solidFill>
                  <a:srgbClr val="0E8F6E"/>
                </a:solidFill>
                <a:latin typeface="Malgun Gothic"/>
              </a:rPr>
              <a:t>유의미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2519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spc="60">
                <a:solidFill>
                  <a:srgbClr val="52625A"/>
                </a:solidFill>
                <a:latin typeface="Consolas"/>
              </a:rPr>
              <a:t>청크 길이 분포 · 30자 경계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79" y="4892040"/>
            <a:ext cx="4663440" cy="13716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09636" y="4572000"/>
            <a:ext cx="10972" cy="338328"/>
          </a:xfrm>
          <a:prstGeom prst="rect">
            <a:avLst/>
          </a:prstGeom>
          <a:solidFill>
            <a:srgbClr val="D3D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496519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2625A"/>
                </a:solidFill>
                <a:latin typeface="Consola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1036" y="496519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2625A"/>
                </a:solidFill>
                <a:latin typeface="Consolas"/>
              </a:rPr>
              <a:t>30자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9" y="496519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2625A"/>
                </a:solidFill>
                <a:latin typeface="Consolas"/>
              </a:rPr>
              <a:t>150자+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70217" y="478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63486" y="478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0023" y="478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56755" y="478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89927" y="478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21163" y="4690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54335" y="4690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80776" y="4690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13947" y="4690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